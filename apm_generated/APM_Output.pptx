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SNG Grant Thornton – Digitech Assurance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Audit Planning Memorandum – Data Analytics</a:t>
            </a:r>
          </a:p>
          <a:p>
            <a:r>
              <a:t>Client: &lt;&lt;CLIENT_NAME&gt;&gt;</a:t>
            </a:r>
          </a:p>
          <a:p>
            <a:r>
              <a:t>Financial Year End: &lt;&lt;YEAR_END_DATE&gt;&gt;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1. Engagement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3366"/>
                </a:solidFill>
              </a:defRPr>
            </a:pPr>
            <a:r>
              <a:t>In support of the annual audit for year ending &lt;&lt;YEAR_END_DATE&gt;&gt;,</a:t>
            </a:r>
          </a:p>
          <a:p>
            <a:pPr>
              <a:defRPr sz="1200">
                <a:solidFill>
                  <a:srgbClr val="003366"/>
                </a:solidFill>
              </a:defRPr>
            </a:pPr>
            <a:r>
              <a:t>client &lt;&lt;CLIENT_NAME&gt;&gt; will receive full‑population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2. About Digitech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3366"/>
                </a:solidFill>
              </a:defRPr>
            </a:pPr>
            <a:r>
              <a:t>Dedicated data‑analytics function within SNG Grant Thornton’s Digital &amp; Technology Assurance division.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3. Analytics Scope &amp; Assertion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3366"/>
                </a:solidFill>
              </a:defRPr>
            </a:pPr>
            <a:r>
              <a:t>All procedures anchored to ISA 315, 240, 330, 500, 520.</a:t>
            </a:r>
          </a:p>
          <a:p>
            <a:pPr>
              <a:defRPr sz="1200">
                <a:solidFill>
                  <a:srgbClr val="003366"/>
                </a:solidFill>
              </a:defRPr>
            </a:pPr>
            <a:r>
              <a:t>Analytics areas: &lt;&lt;ANALYTICS_AREAS_LIST&gt;&gt;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4. Data Requirements &amp; 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3366"/>
                </a:solidFill>
              </a:defRPr>
            </a:pPr>
            <a:r>
              <a:t>IPE testing performed before any CAATs.</a:t>
            </a:r>
          </a:p>
          <a:p>
            <a:pPr>
              <a:defRPr sz="1200">
                <a:solidFill>
                  <a:srgbClr val="003366"/>
                </a:solidFill>
              </a:defRPr>
            </a:pPr>
            <a:r>
              <a:t>Required data captured per analytics area (see Excel).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6. Budget &amp; Fee Estimate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3366"/>
                          </a:solidFill>
                        </a:rPr>
                        <a:t>Grade / Tier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3366"/>
                          </a:solidFill>
                        </a:rPr>
                        <a:t>Rate (ZAR/hr)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3366"/>
                          </a:solidFill>
                        </a:rPr>
                        <a:t>Est. Hours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3366"/>
                          </a:solidFill>
                        </a:rPr>
                        <a:t>Est. Fees (ZAR)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CAATs Execution – Junior / Senior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&lt;&lt;RATE_CONS&gt;&gt;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&lt;&lt;HRS_CONS&gt;&gt;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&lt;&lt;FEE_CONS&gt;&gt;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Management – Manager / Senior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&lt;&lt;RATE_MG&gt;&gt;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&lt;&lt;HRS_MGR&gt;&gt;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&lt;&lt;FEE_MGR&gt;&gt;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Direction &amp; QA – Director / Assoc.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&lt;&lt;RATE_DIR&gt;&gt;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&lt;&lt;HRS_DIR&gt;&gt;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&lt;&lt;FEE_DIR&gt;&gt;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&lt;&lt;TOT_HRS&gt;&gt;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3366"/>
                          </a:solidFill>
                        </a:rPr>
                        <a:t>&lt;&lt;TOT_FEES&gt;&gt;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7. Reporting &amp; Lines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details (place‑holders):</a:t>
            </a:r>
          </a:p>
          <a:p>
            <a:pPr>
              <a:defRPr sz="1100">
                <a:solidFill>
                  <a:srgbClr val="003366"/>
                </a:solidFill>
              </a:defRPr>
            </a:pPr>
            <a:r>
              <a:t>&lt;&lt;CONTACT_1_NAME&gt;&gt; – &lt;&lt;CONTACT_1_ROLE&gt;&gt; – Corrective: &lt;&lt;CONTACT_1_CORRECTIVE&gt;&gt;</a:t>
            </a:r>
          </a:p>
          <a:p>
            <a:pPr>
              <a:defRPr sz="1100">
                <a:solidFill>
                  <a:srgbClr val="003366"/>
                </a:solidFill>
              </a:defRPr>
            </a:pPr>
            <a:r>
              <a:t>&lt;&lt;CONTACT_2_NAME&gt;&gt; – &lt;&lt;CONTACT_2_ROLE&gt;&gt; – Corrective: &lt;&lt;CONTACT_2_CORRECTIVE&gt;&gt;</a:t>
            </a:r>
          </a:p>
          <a:p>
            <a:pPr>
              <a:defRPr sz="1100">
                <a:solidFill>
                  <a:srgbClr val="003366"/>
                </a:solidFill>
              </a:defRPr>
            </a:pPr>
            <a:r>
              <a:t>&lt;&lt;CONTACT_3_NAME&gt;&gt; – &lt;&lt;CONTACT_3_ROLE&gt;&gt; – Corrective: &lt;&lt;CONTACT_3_CORRECTIVE&gt;&gt;</a:t>
            </a:r>
          </a:p>
          <a:p>
            <a:pPr>
              <a:defRPr sz="1100">
                <a:solidFill>
                  <a:srgbClr val="003366"/>
                </a:solidFill>
              </a:defRPr>
            </a:pPr>
            <a:r>
              <a:t>&lt;&lt;CONTACT_4_NAME&gt;&gt; – &lt;&lt;CONTACT_4_ROLE&gt;&gt; – Corrective: &lt;&lt;CONTACT_4_CORRECTIVE&gt;&gt;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